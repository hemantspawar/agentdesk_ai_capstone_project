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915410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 err="1"/>
              <a:t>AgentDesk</a:t>
            </a:r>
            <a:r>
              <a:rPr dirty="0"/>
              <a:t> AI Syllabus | </a:t>
            </a:r>
            <a:r>
              <a:rPr lang="en-US" dirty="0"/>
              <a:t>6</a:t>
            </a:r>
            <a:r>
              <a:rPr dirty="0"/>
              <a:t> Chapters</a:t>
            </a:r>
            <a:r>
              <a:rPr lang="en-US" dirty="0"/>
              <a:t> with capstone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12064" y="685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CFF"/>
                </a:solidFill>
              </a:defRPr>
            </a:pPr>
            <a:r>
              <a:t>Ch 1-5 build foundations | Ch 6 Capstone integrates and covers Ch 7-13 concepts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83280" cy="502920"/>
          </a:xfrm>
          <a:prstGeom prst="round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FOUNDATIONS (Chapters 1-5)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3383280" cy="685800"/>
          </a:xfrm>
          <a:prstGeom prst="roundRect">
            <a:avLst/>
          </a:prstGeom>
          <a:solidFill>
            <a:srgbClr val="E3F9FA"/>
          </a:solidFill>
          <a:ln>
            <a:solidFill>
              <a:srgbClr val="99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4462"/>
                </a:solidFill>
              </a:defRPr>
            </a:pPr>
            <a:r>
              <a:t>Ch 01</a:t>
            </a:r>
          </a:p>
          <a:p>
            <a:pPr>
              <a:defRPr sz="1100">
                <a:solidFill>
                  <a:srgbClr val="4A5A78"/>
                </a:solidFill>
              </a:defRPr>
            </a:pPr>
            <a:r>
              <a:t>Introduction &amp; 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70632"/>
            <a:ext cx="3383280" cy="685800"/>
          </a:xfrm>
          <a:prstGeom prst="roundRect">
            <a:avLst/>
          </a:prstGeom>
          <a:solidFill>
            <a:srgbClr val="E3F9FA"/>
          </a:solidFill>
          <a:ln>
            <a:solidFill>
              <a:srgbClr val="99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4462"/>
                </a:solidFill>
              </a:defRPr>
            </a:pPr>
            <a:r>
              <a:t>Ch 02</a:t>
            </a:r>
          </a:p>
          <a:p>
            <a:pPr>
              <a:defRPr sz="1100">
                <a:solidFill>
                  <a:srgbClr val="4A5A78"/>
                </a:solidFill>
              </a:defRPr>
            </a:pPr>
            <a:r>
              <a:t>Project Setup &amp;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575304"/>
            <a:ext cx="3383280" cy="685800"/>
          </a:xfrm>
          <a:prstGeom prst="roundRect">
            <a:avLst/>
          </a:prstGeom>
          <a:solidFill>
            <a:srgbClr val="E3F9FA"/>
          </a:solidFill>
          <a:ln>
            <a:solidFill>
              <a:srgbClr val="99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4462"/>
                </a:solidFill>
              </a:defRPr>
            </a:pPr>
            <a:r>
              <a:t>Ch 03</a:t>
            </a:r>
          </a:p>
          <a:p>
            <a:pPr>
              <a:defRPr sz="1100">
                <a:solidFill>
                  <a:srgbClr val="4A5A78"/>
                </a:solidFill>
              </a:defRPr>
            </a:pPr>
            <a:r>
              <a:t>Agentic AI Core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379976"/>
            <a:ext cx="3383280" cy="685800"/>
          </a:xfrm>
          <a:prstGeom prst="roundRect">
            <a:avLst/>
          </a:prstGeom>
          <a:solidFill>
            <a:srgbClr val="E3F9FA"/>
          </a:solidFill>
          <a:ln>
            <a:solidFill>
              <a:srgbClr val="99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4462"/>
                </a:solidFill>
              </a:defRPr>
            </a:pPr>
            <a:r>
              <a:t>Ch 04</a:t>
            </a:r>
          </a:p>
          <a:p>
            <a:pPr>
              <a:defRPr sz="1100">
                <a:solidFill>
                  <a:srgbClr val="4A5A78"/>
                </a:solidFill>
              </a:defRPr>
            </a:pPr>
            <a:r>
              <a:t>RAG Knowledge 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184648"/>
            <a:ext cx="3383280" cy="685800"/>
          </a:xfrm>
          <a:prstGeom prst="roundRect">
            <a:avLst/>
          </a:prstGeom>
          <a:solidFill>
            <a:srgbClr val="E3F9FA"/>
          </a:solidFill>
          <a:ln>
            <a:solidFill>
              <a:srgbClr val="99D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4462"/>
                </a:solidFill>
              </a:defRPr>
            </a:pPr>
            <a:r>
              <a:t>Ch 05</a:t>
            </a:r>
          </a:p>
          <a:p>
            <a:pPr>
              <a:defRPr sz="1100">
                <a:solidFill>
                  <a:srgbClr val="4A5A78"/>
                </a:solidFill>
              </a:defRPr>
            </a:pPr>
            <a:r>
              <a:t>MCP Tool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25880"/>
            <a:ext cx="7360920" cy="502920"/>
          </a:xfrm>
          <a:prstGeom prst="roundRect">
            <a:avLst/>
          </a:prstGeom>
          <a:solidFill>
            <a:srgbClr val="265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CHAPTER 6 FINAL CAPSTONE (Includes Chapters 7-13)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965960"/>
            <a:ext cx="7360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5D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148840"/>
            <a:ext cx="6812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3768"/>
                </a:solidFill>
              </a:defRPr>
            </a:pPr>
            <a:r>
              <a:t>One Enterprise Build, Seven Embedded Concept 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697480"/>
            <a:ext cx="960120" cy="347472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4BF"/>
                </a:solidFill>
              </a:defRPr>
            </a:pPr>
            <a:r>
              <a:t>Ch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715768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5878"/>
                </a:solidFill>
              </a:defRPr>
            </a:pPr>
            <a:r>
              <a:t>Agent orchestration and response strategy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182112"/>
            <a:ext cx="960120" cy="347472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4BF"/>
                </a:solidFill>
              </a:defRPr>
            </a:pPr>
            <a:r>
              <a:t>Ch 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200400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5878"/>
                </a:solidFill>
              </a:defRPr>
            </a:pPr>
            <a:r>
              <a:t>Remote MCP tool discovery +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666744"/>
            <a:ext cx="960120" cy="347472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4BF"/>
                </a:solidFill>
              </a:defRPr>
            </a:pPr>
            <a:r>
              <a:t>Ch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685031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5878"/>
                </a:solidFill>
              </a:defRPr>
            </a:pPr>
            <a:r>
              <a:t>Guardrails, policy checks, escalation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4151376"/>
            <a:ext cx="960120" cy="347472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4BF"/>
                </a:solidFill>
              </a:defRPr>
            </a:pPr>
            <a:r>
              <a:t>Ch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169663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5878"/>
                </a:solidFill>
              </a:defRPr>
            </a:pPr>
            <a:r>
              <a:t>Lead scoring and follow-up automation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636008"/>
            <a:ext cx="960120" cy="347472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4BF"/>
                </a:solidFill>
              </a:defRPr>
            </a:pPr>
            <a:r>
              <a:t>Ch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654296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5878"/>
                </a:solidFill>
              </a:defRPr>
            </a:pPr>
            <a:r>
              <a:t>Human handoff and case lifecycle states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5120640"/>
            <a:ext cx="960120" cy="347472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4BF"/>
                </a:solidFill>
              </a:defRPr>
            </a:pPr>
            <a:r>
              <a:t>Ch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5138928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5878"/>
                </a:solidFill>
              </a:defRPr>
            </a:pPr>
            <a:r>
              <a:t>Demo evaluation and report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5605272"/>
            <a:ext cx="960120" cy="347472"/>
          </a:xfrm>
          <a:prstGeom prst="roundRect">
            <a:avLst/>
          </a:prstGeom>
          <a:solidFill>
            <a:srgbClr val="E8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4BF"/>
                </a:solidFill>
              </a:defRPr>
            </a:pPr>
            <a:r>
              <a:t>Ch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623560"/>
            <a:ext cx="5806440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85878"/>
                </a:solidFill>
              </a:defRPr>
            </a:pPr>
            <a:r>
              <a:t>Bootstrap UI and deployment-ready packaging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4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Chapter 6 Capstone Feature Stack (Covers Chapters 7-13)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rPr dirty="0"/>
              <a:t>Agent Brain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rPr dirty="0"/>
              <a:t>Intent analysis, dynamic routing, structured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46304" cy="1143000"/>
          </a:xfrm>
          <a:prstGeom prst="rect">
            <a:avLst/>
          </a:prstGeom>
          <a:solidFill>
            <a:srgbClr val="00A3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0" y="1234440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t>RAG Retrieval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t>Embeddings + semantic search over domain knowledge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234440"/>
            <a:ext cx="146304" cy="1143000"/>
          </a:xfrm>
          <a:prstGeom prst="rect">
            <a:avLst/>
          </a:prstGeom>
          <a:solidFill>
            <a:srgbClr val="FF9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2633472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t>MCP Execution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t>Live protocol calls with tool selection and responses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33472"/>
            <a:ext cx="146304" cy="1143000"/>
          </a:xfrm>
          <a:prstGeom prst="rect">
            <a:avLst/>
          </a:prstGeom>
          <a:solidFill>
            <a:srgbClr val="DD4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0" y="2633472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t>Guardrails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t>Policy enforcement, escalation triggers, safety overrides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633472"/>
            <a:ext cx="146304" cy="1143000"/>
          </a:xfrm>
          <a:prstGeom prst="rect">
            <a:avLst/>
          </a:prstGeom>
          <a:solidFill>
            <a:srgbClr val="68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4032504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t>Lead Ops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t>Qualification scoring and next-step follow-up suggestions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32504"/>
            <a:ext cx="146304" cy="1143000"/>
          </a:xfrm>
          <a:prstGeom prst="rect">
            <a:avLst/>
          </a:prstGeom>
          <a:solidFill>
            <a:srgbClr val="14A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0" y="4032504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t>Case Workflow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t>TICKET_CREATED to CASE_CLOSED lifecycle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032504"/>
            <a:ext cx="146304" cy="1143000"/>
          </a:xfrm>
          <a:prstGeom prst="rect">
            <a:avLst/>
          </a:prstGeom>
          <a:solidFill>
            <a:srgbClr val="F68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" y="5431536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t>Demo Evaluation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t>Batch case runner with timestamped JSON reports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431536"/>
            <a:ext cx="146304" cy="1143000"/>
          </a:xfrm>
          <a:prstGeom prst="rect">
            <a:avLst/>
          </a:prstGeom>
          <a:solidFill>
            <a:srgbClr val="6F5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0" y="5431536"/>
            <a:ext cx="5577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tlCol="0" anchor="ctr"/>
          <a:lstStyle/>
          <a:p>
            <a:pPr algn="ctr">
              <a:defRPr sz="1600" b="1">
                <a:solidFill>
                  <a:srgbClr val="273656"/>
                </a:solidFill>
              </a:defRPr>
            </a:pPr>
            <a:r>
              <a:t>UI + Deploy</a:t>
            </a:r>
          </a:p>
          <a:p>
            <a:pPr>
              <a:defRPr sz="1100">
                <a:solidFill>
                  <a:srgbClr val="52607E"/>
                </a:solidFill>
              </a:defRPr>
            </a:pPr>
            <a:r>
              <a:t>Flask/Bootstrap app with free deployment guidance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5431536"/>
            <a:ext cx="146304" cy="1143000"/>
          </a:xfrm>
          <a:prstGeom prst="rect">
            <a:avLst/>
          </a:prstGeom>
          <a:solidFill>
            <a:srgbClr val="2C8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" y="6443795"/>
            <a:ext cx="10744200" cy="384048"/>
          </a:xfrm>
          <a:prstGeom prst="roundRect">
            <a:avLst/>
          </a:prstGeom>
          <a:solidFill>
            <a:srgbClr val="E7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34091"/>
                </a:solidFill>
              </a:defRPr>
            </a:pPr>
            <a:r>
              <a:rPr dirty="0"/>
              <a:t>Student Outcome: Build one portfolio-grade enterprise agent where Ch 7-13 capabilities are demonstrated inside Ch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228</Words>
  <Application>Microsoft Office PowerPoint</Application>
  <PresentationFormat>Widescreen</PresentationFormat>
  <Paragraphs>47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Hemant Pawar</cp:lastModifiedBy>
  <cp:revision>4</cp:revision>
  <dcterms:created xsi:type="dcterms:W3CDTF">2013-01-27T09:14:16Z</dcterms:created>
  <dcterms:modified xsi:type="dcterms:W3CDTF">2026-05-17T19:45:05Z</dcterms:modified>
  <cp:category/>
</cp:coreProperties>
</file>